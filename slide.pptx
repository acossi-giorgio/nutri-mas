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slideLayouts/slideLayout6.xml" ContentType="application/vnd.openxmlformats-officedocument.presentationml.slideLayout+xml"/>
  <Override PartName="/ppt/theme/theme7.xml" ContentType="application/vnd.openxmlformats-officedocument.theme+xml"/>
  <Override PartName="/ppt/slideLayouts/slideLayout7.xml" ContentType="application/vnd.openxmlformats-officedocument.presentationml.slideLayout+xml"/>
  <Override PartName="/ppt/theme/theme8.xml" ContentType="application/vnd.openxmlformats-officedocument.theme+xml"/>
  <Override PartName="/ppt/slideLayouts/slideLayout8.xml" ContentType="application/vnd.openxmlformats-officedocument.presentationml.slideLayout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56" r:id="rId3"/>
    <p:sldMasterId id="2147483657" r:id="rId4"/>
    <p:sldMasterId id="2147483659" r:id="rId5"/>
    <p:sldMasterId id="2147483661" r:id="rId6"/>
    <p:sldMasterId id="2147483663" r:id="rId7"/>
    <p:sldMasterId id="2147483665" r:id="rId8"/>
    <p:sldMasterId id="2147483667" r:id="rId9"/>
    <p:sldMasterId id="2147483669" r:id="rId10"/>
  </p:sldMasterIdLst>
  <p:sldIdLst>
    <p:sldId id="256" r:id="rId11"/>
    <p:sldId id="257" r:id="rId12"/>
    <p:sldId id="258" r:id="rId13"/>
    <p:sldId id="259" r:id="rId14"/>
    <p:sldId id="274" r:id="rId15"/>
    <p:sldId id="260" r:id="rId16"/>
    <p:sldId id="261" r:id="rId17"/>
    <p:sldId id="282" r:id="rId18"/>
    <p:sldId id="281" r:id="rId19"/>
    <p:sldId id="291" r:id="rId20"/>
    <p:sldId id="283" r:id="rId21"/>
    <p:sldId id="284" r:id="rId22"/>
    <p:sldId id="285" r:id="rId23"/>
    <p:sldId id="286" r:id="rId24"/>
    <p:sldId id="263" r:id="rId25"/>
    <p:sldId id="264" r:id="rId26"/>
    <p:sldId id="271" r:id="rId27"/>
    <p:sldId id="272" r:id="rId28"/>
    <p:sldId id="273" r:id="rId29"/>
    <p:sldId id="275" r:id="rId30"/>
    <p:sldId id="267" r:id="rId31"/>
    <p:sldId id="287" r:id="rId32"/>
    <p:sldId id="277" r:id="rId33"/>
    <p:sldId id="276" r:id="rId34"/>
    <p:sldId id="289" r:id="rId35"/>
    <p:sldId id="288" r:id="rId36"/>
    <p:sldId id="279" r:id="rId37"/>
    <p:sldId id="278" r:id="rId38"/>
    <p:sldId id="292" r:id="rId39"/>
    <p:sldId id="280" r:id="rId40"/>
    <p:sldId id="270" r:id="rId41"/>
    <p:sldId id="268" r:id="rId42"/>
    <p:sldId id="269" r:id="rId43"/>
  </p:sldIdLst>
  <p:sldSz cx="9144000" cy="6858000" type="screen4x3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theme" Target="theme/theme1.xml"/><Relationship Id="rId20" Type="http://schemas.openxmlformats.org/officeDocument/2006/relationships/slide" Target="slides/slide10.xml"/><Relationship Id="rId41" Type="http://schemas.openxmlformats.org/officeDocument/2006/relationships/slide" Target="slides/slide3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a f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testazione sezione +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, sotto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E73B163-2A1C-4D7E-9881-F2F8B63983AF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DCC5BCEB-2590-4C88-AF25-37763AC7CDE7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5E33B26-CB93-411E-86B8-67AAC7E7CCED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6D99FEB-928F-4753-AB25-76235B1E54B6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013BBD5F-D4EE-4A71-B597-42C7CE7373E1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8E5750B-56E5-4A24-A566-98AE663AD99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C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44400" y="1613160"/>
            <a:ext cx="7825680" cy="209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defTabSz="685800">
              <a:lnSpc>
                <a:spcPct val="100000"/>
              </a:lnSpc>
              <a:buNone/>
            </a:pPr>
            <a:r>
              <a:rPr lang="it-IT" sz="32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Fare clic per modificare il titolo delle slide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44040" y="4091400"/>
            <a:ext cx="7825680" cy="74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432000" indent="-32400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400" b="0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Fare clic per modificare il sottotitolo delle slide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pic>
        <p:nvPicPr>
          <p:cNvPr id="2" name="Immagine 4"/>
          <p:cNvPicPr/>
          <p:nvPr/>
        </p:nvPicPr>
        <p:blipFill>
          <a:blip r:embed="rId3"/>
          <a:stretch/>
        </p:blipFill>
        <p:spPr>
          <a:xfrm>
            <a:off x="645480" y="758520"/>
            <a:ext cx="3486960" cy="5097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C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magine 2"/>
          <p:cNvPicPr/>
          <p:nvPr/>
        </p:nvPicPr>
        <p:blipFill>
          <a:blip r:embed="rId3"/>
          <a:stretch/>
        </p:blipFill>
        <p:spPr>
          <a:xfrm>
            <a:off x="3711960" y="2848320"/>
            <a:ext cx="1719360" cy="116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it-IT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44400" y="1650600"/>
            <a:ext cx="7825680" cy="451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defTabSz="685800">
              <a:lnSpc>
                <a:spcPct val="100000"/>
              </a:lnSpc>
              <a:buNone/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Fare clic per modificare il titolo delle slide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28" name="Immagine 2"/>
          <p:cNvPicPr/>
          <p:nvPr/>
        </p:nvPicPr>
        <p:blipFill>
          <a:blip r:embed="rId2"/>
          <a:stretch/>
        </p:blipFill>
        <p:spPr>
          <a:xfrm>
            <a:off x="673920" y="748080"/>
            <a:ext cx="3459960" cy="5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644040" y="4512240"/>
            <a:ext cx="7825320" cy="90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432000" indent="-32400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 Slab"/>
                <a:ea typeface="Roboto Slab"/>
              </a:rPr>
              <a:t>Fare clic per modificare il sottotitolo della sezione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644400" y="1602720"/>
            <a:ext cx="7825680" cy="242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defTabSz="685800">
              <a:lnSpc>
                <a:spcPct val="100000"/>
              </a:lnSpc>
              <a:buNone/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Roboto Slab"/>
                <a:ea typeface="Roboto Slab"/>
              </a:rPr>
              <a:t>Fare clic per modificare il titolo delle slide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32" name="Immagine 4"/>
          <p:cNvPicPr/>
          <p:nvPr/>
        </p:nvPicPr>
        <p:blipFill>
          <a:blip r:embed="rId3"/>
          <a:stretch/>
        </p:blipFill>
        <p:spPr>
          <a:xfrm>
            <a:off x="673920" y="748080"/>
            <a:ext cx="3459960" cy="5058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628560" y="2511360"/>
            <a:ext cx="7886520" cy="305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modificare gli stili del testo dello schema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Secondo livello</a:t>
            </a:r>
            <a:endParaRPr lang="it-IT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Quarto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160000" lvl="4" indent="-216000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Quinto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28560" y="1551600"/>
            <a:ext cx="78865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rgbClr val="007C58"/>
                </a:solidFill>
                <a:effectLst/>
                <a:uFillTx/>
                <a:latin typeface="Roboto Slab"/>
                <a:ea typeface="Roboto Slab"/>
              </a:rPr>
              <a:t>Fare clic per modificare il sottotitolo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4EC9B7-8B5D-49E1-A478-3BD5E1AF7887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rPr>
              <a:t>‹N›</a:t>
            </a:fld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28560" y="5748480"/>
            <a:ext cx="7886520" cy="42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pic>
        <p:nvPicPr>
          <p:cNvPr id="38" name="Immagine 5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476040"/>
            <a:ext cx="934200" cy="1551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4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D9B2C1-747D-4C98-A739-489E1E45F6FD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rPr>
              <a:t>‹N›</a:t>
            </a:fld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28560" y="1531800"/>
            <a:ext cx="7886520" cy="403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modificare gli stili del testo dello schema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Secondo livello</a:t>
            </a:r>
            <a:endParaRPr lang="it-IT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Quarto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  <a:p>
            <a:pPr marL="2160000" lvl="4" indent="-216000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Quinto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28560" y="57470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pic>
        <p:nvPicPr>
          <p:cNvPr id="43" name="Immagine 7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476040"/>
            <a:ext cx="934200" cy="1551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0" y="1542960"/>
            <a:ext cx="9143640" cy="40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432000" indent="-32400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800" b="0" i="1" u="none" strike="noStrike">
                <a:solidFill>
                  <a:schemeClr val="dk1"/>
                </a:solidFill>
                <a:effectLst/>
                <a:uFillTx/>
                <a:latin typeface="Fira Sans"/>
              </a:rPr>
              <a:t>Fare clic sull'icona per inserire un'immagine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AB500E-9525-42F2-B91F-3742F62BD70B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rPr>
              <a:t>‹N›</a:t>
            </a:fld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8560" y="57470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48" name="Immagine 8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476040"/>
            <a:ext cx="934200" cy="1551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1B1218-039A-452A-AF90-F74F25B47DDE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rPr>
              <a:t>‹N›</a:t>
            </a:fld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28560" y="1551600"/>
            <a:ext cx="78865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432000" indent="-32400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2400" b="1" u="none" strike="noStrike">
                <a:solidFill>
                  <a:srgbClr val="007C58"/>
                </a:solidFill>
                <a:effectLst/>
                <a:uFillTx/>
                <a:latin typeface="Roboto Slab"/>
                <a:ea typeface="Roboto Slab"/>
              </a:rPr>
              <a:t>Fare clic per modificare il sottotitolo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8560" y="57470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53" name="Immagine 8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476040"/>
            <a:ext cx="934200" cy="1551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4572000" y="1825560"/>
            <a:ext cx="394416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 algn="ctr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800" b="0" i="1" u="none" strike="noStrike">
                <a:solidFill>
                  <a:schemeClr val="dk1"/>
                </a:solidFill>
                <a:effectLst/>
                <a:uFillTx/>
                <a:latin typeface="Fira Sans"/>
              </a:rPr>
              <a:t>Fare clic sull'icona per inserire un'immagine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30000" y="1825560"/>
            <a:ext cx="376956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modificare gli stili del testo dello schema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Secondo livello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Terzo livello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Quarto livello</a:t>
            </a: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Quinto livello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7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871A7A-5D99-4EE4-AF6A-5E5E301A51DB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rPr>
              <a:t>‹N›</a:t>
            </a:fld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58" name="Immagine 6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476040"/>
            <a:ext cx="934200" cy="1551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628560" y="1825560"/>
            <a:ext cx="394416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marL="432000" indent="-324000" algn="ctr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1800" b="0" i="1" u="none" strike="noStrike">
                <a:solidFill>
                  <a:schemeClr val="dk1"/>
                </a:solidFill>
                <a:effectLst/>
                <a:uFillTx/>
                <a:latin typeface="Fira Sans"/>
              </a:rPr>
              <a:t>Fare clic sull'icona per inserire un'immagine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Fira Sans Medium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745520" y="1825560"/>
            <a:ext cx="376956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Fare clic per modificare gli stili del testo dello schema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Secondo livello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Terzo livello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Quarto livello</a:t>
            </a: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Fira Sans Medium"/>
              </a:rPr>
              <a:t>Quinto livello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sldNum" idx="8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F435FD-AF2E-44E2-A574-AEE118B2366B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Fira Sans Medium"/>
              </a:rPr>
              <a:t>‹N›</a:t>
            </a:fld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63" name="Immagine 6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476040"/>
            <a:ext cx="934200" cy="1551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59160" y="1740311"/>
            <a:ext cx="7825680" cy="209427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normAutofit/>
          </a:bodyPr>
          <a:lstStyle/>
          <a:p>
            <a:pPr indent="0" algn="l" defTabSz="685800">
              <a:lnSpc>
                <a:spcPct val="100000"/>
              </a:lnSpc>
              <a:buNone/>
            </a:pPr>
            <a:r>
              <a:rPr lang="it-IT" sz="3200" b="1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Course S&amp;DAI</a:t>
            </a:r>
            <a:br>
              <a:rPr lang="it-IT" sz="32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br>
              <a:rPr lang="it-IT" sz="32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sz="32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Nutri-MAS</a:t>
            </a:r>
            <a:r>
              <a:rPr lang="it-IT" sz="32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br>
              <a:rPr lang="it-IT" sz="2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sz="18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Hybrid multi-agent system for personalized nutritional assistance</a:t>
            </a:r>
            <a:endParaRPr lang="it-IT" sz="1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59160" y="4158512"/>
            <a:ext cx="7825680" cy="748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sz="140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Acossi Giorgio Roberto </a:t>
            </a:r>
            <a:r>
              <a:rPr lang="it-IT" sz="140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-</a:t>
            </a:r>
            <a:r>
              <a:rPr sz="140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S5339095</a:t>
            </a:r>
            <a:endParaRPr lang="it-IT" sz="1400" u="none" strike="noStrike" dirty="0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581482" y="1006560"/>
            <a:ext cx="7825680" cy="24224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indent="0" algn="l" defTabSz="685800">
              <a:lnSpc>
                <a:spcPct val="100000"/>
              </a:lnSpc>
              <a:buNone/>
            </a:pPr>
            <a:r>
              <a:rPr sz="20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Creative project</a:t>
            </a:r>
            <a:br>
              <a:rPr lang="it-IT" sz="20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sz="20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
Proposed difficulty medium-hard</a:t>
            </a:r>
            <a:endParaRPr lang="it-IT" sz="20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644400" y="1602720"/>
            <a:ext cx="7825680" cy="72941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indent="0" algn="l" defTabSz="685800">
              <a:lnSpc>
                <a:spcPct val="100000"/>
              </a:lnSpc>
              <a:buNone/>
            </a:pPr>
            <a:r>
              <a:rPr sz="20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Project specification</a:t>
            </a:r>
            <a:endParaRPr lang="it-IT" sz="3200" b="0" u="none" strike="noStrike" dirty="0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AC24FF2-E082-3D9C-6F45-4C6620A84FD2}"/>
              </a:ext>
            </a:extLst>
          </p:cNvPr>
          <p:cNvSpPr txBox="1"/>
          <p:nvPr/>
        </p:nvSpPr>
        <p:spPr>
          <a:xfrm>
            <a:off x="644400" y="2568507"/>
            <a:ext cx="75977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Nutri-MAS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conversational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assistant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that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combines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reactive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agents, BDI agents, and LLM-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based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agents. </a:t>
            </a:r>
          </a:p>
          <a:p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The system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collects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user's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profile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calculates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indicative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caloric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targets, builds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weekly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plan,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generates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recipes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records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actually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consumed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subsequent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slots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when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plan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modified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85947" y="953217"/>
            <a:ext cx="7886520" cy="76176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indent="0" defTabSz="685800"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600" b="1" dirty="0" err="1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sz="1600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assistance</a:t>
            </a:r>
            <a:r>
              <a:rPr lang="it-IT" sz="1600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is</a:t>
            </a:r>
            <a:r>
              <a:rPr lang="it-IT" sz="1600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a </a:t>
            </a:r>
            <a:r>
              <a:rPr lang="it-IT" sz="1600" b="1" dirty="0" err="1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dynamic</a:t>
            </a:r>
            <a:r>
              <a:rPr lang="it-IT" sz="1600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constraint</a:t>
            </a:r>
            <a:r>
              <a:rPr lang="it-IT" sz="1600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-management </a:t>
            </a:r>
            <a:r>
              <a:rPr lang="it-IT" sz="1600" b="1" dirty="0" err="1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problem</a:t>
            </a:r>
            <a:r>
              <a:rPr lang="it-IT" sz="1600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is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not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only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recipe generation</a:t>
            </a:r>
            <a:endParaRPr lang="it-IT" sz="1600" b="1" u="none" strike="noStrike" dirty="0">
              <a:solidFill>
                <a:schemeClr val="accent2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title"/>
          </p:nvPr>
        </p:nvSpPr>
        <p:spPr>
          <a:xfrm>
            <a:off x="733420" y="520236"/>
            <a:ext cx="1720358" cy="39835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Motivatio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Rounded Rectangle 76">
            <a:extLst>
              <a:ext uri="{FF2B5EF4-FFF2-40B4-BE49-F238E27FC236}">
                <a16:creationId xmlns:a16="http://schemas.microsoft.com/office/drawing/2014/main" id="{C9A86F6A-8C7B-B337-A766-1318A14E5C68}"/>
              </a:ext>
            </a:extLst>
          </p:cNvPr>
          <p:cNvSpPr/>
          <p:nvPr/>
        </p:nvSpPr>
        <p:spPr>
          <a:xfrm>
            <a:off x="825110" y="2409255"/>
            <a:ext cx="2285140" cy="2103539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lang="it-IT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User </a:t>
            </a:r>
            <a:r>
              <a:rPr lang="it-IT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constraints</a:t>
            </a:r>
            <a:endParaRPr lang="it-IT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lang="it-IT" sz="16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Calories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Diet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Allergens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preferences</a:t>
            </a:r>
            <a:endParaRPr sz="1200" dirty="0"/>
          </a:p>
        </p:txBody>
      </p:sp>
      <p:sp>
        <p:nvSpPr>
          <p:cNvPr id="5" name="Rounded Rectangle 76">
            <a:extLst>
              <a:ext uri="{FF2B5EF4-FFF2-40B4-BE49-F238E27FC236}">
                <a16:creationId xmlns:a16="http://schemas.microsoft.com/office/drawing/2014/main" id="{B2E580DF-3DA5-ABAE-A703-6542A2FFFE77}"/>
              </a:ext>
            </a:extLst>
          </p:cNvPr>
          <p:cNvSpPr/>
          <p:nvPr/>
        </p:nvSpPr>
        <p:spPr>
          <a:xfrm>
            <a:off x="6033751" y="2385532"/>
            <a:ext cx="2285140" cy="2103539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lang="it-IT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Planning </a:t>
            </a:r>
            <a:r>
              <a:rPr lang="it-IT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constraints</a:t>
            </a:r>
            <a:endParaRPr lang="it-IT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lang="it-IT" sz="16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</a:t>
            </a:r>
            <a:r>
              <a:rPr lang="it-IT" sz="1200" b="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eal slots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</a:t>
            </a:r>
            <a:r>
              <a:rPr lang="it-IT" sz="1200" b="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ariety</a:t>
            </a:r>
            <a:r>
              <a:rPr lang="it-IT" sz="1200" b="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b="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Food frequencies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Rounded Rectangle 76">
            <a:extLst>
              <a:ext uri="{FF2B5EF4-FFF2-40B4-BE49-F238E27FC236}">
                <a16:creationId xmlns:a16="http://schemas.microsoft.com/office/drawing/2014/main" id="{7A23BE3A-5DEB-B2FC-E975-306F86FB314B}"/>
              </a:ext>
            </a:extLst>
          </p:cNvPr>
          <p:cNvSpPr/>
          <p:nvPr/>
        </p:nvSpPr>
        <p:spPr>
          <a:xfrm>
            <a:off x="3429430" y="2389092"/>
            <a:ext cx="2285140" cy="2103539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lang="it-IT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Runtime Adaptation</a:t>
            </a:r>
          </a:p>
          <a:p>
            <a:pPr algn="ctr"/>
            <a:endParaRPr lang="it-IT" sz="16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Off-plan </a:t>
            </a:r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meals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Recalculation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Rebalancing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lang="it-IT" sz="16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A2FC77C-A2AE-BDE1-1EF1-72A79FB126FD}"/>
              </a:ext>
            </a:extLst>
          </p:cNvPr>
          <p:cNvSpPr txBox="1"/>
          <p:nvPr/>
        </p:nvSpPr>
        <p:spPr>
          <a:xfrm>
            <a:off x="1755240" y="5183349"/>
            <a:ext cx="58516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 defTabSz="685800"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Reliable</a:t>
            </a:r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planning, </a:t>
            </a:r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flexible</a:t>
            </a:r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interaction, </a:t>
            </a:r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continuous</a:t>
            </a:r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adaptation</a:t>
            </a:r>
            <a:endParaRPr lang="it-IT" sz="1400" b="1" u="none" strike="noStrike" dirty="0">
              <a:solidFill>
                <a:schemeClr val="accent2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A680-BBBB-AA34-47B8-DCAA9A38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2">
            <a:extLst>
              <a:ext uri="{FF2B5EF4-FFF2-40B4-BE49-F238E27FC236}">
                <a16:creationId xmlns:a16="http://schemas.microsoft.com/office/drawing/2014/main" id="{CE6DA356-1DCF-852B-921A-8BFF71E5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2689286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defTabSz="685800"/>
            <a:r>
              <a:rPr lang="it-IT" sz="2200" b="1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Technology </a:t>
            </a:r>
            <a:r>
              <a:rPr lang="it-IT" sz="2200" b="1" dirty="0" err="1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stack</a:t>
            </a:r>
            <a:endParaRPr lang="it-IT" sz="2200" b="1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2" name="Immagine 1" descr="Python logo - free Icon PNG, SVG">
            <a:extLst>
              <a:ext uri="{FF2B5EF4-FFF2-40B4-BE49-F238E27FC236}">
                <a16:creationId xmlns:a16="http://schemas.microsoft.com/office/drawing/2014/main" id="{2B17E271-DBCD-EA0D-AE93-8EA05AC75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43" y="4265388"/>
            <a:ext cx="1020223" cy="1020223"/>
          </a:xfrm>
          <a:prstGeom prst="rect">
            <a:avLst/>
          </a:prstGeom>
        </p:spPr>
      </p:pic>
      <p:pic>
        <p:nvPicPr>
          <p:cNvPr id="3" name="Immagine 2" descr="Streamlit SVG and transparent PNG icons | TechIcons">
            <a:extLst>
              <a:ext uri="{FF2B5EF4-FFF2-40B4-BE49-F238E27FC236}">
                <a16:creationId xmlns:a16="http://schemas.microsoft.com/office/drawing/2014/main" id="{3605AC72-45D1-134A-D604-17478A06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864" y="734595"/>
            <a:ext cx="1239605" cy="1239605"/>
          </a:xfrm>
          <a:prstGeom prst="rect">
            <a:avLst/>
          </a:prstGeom>
        </p:spPr>
      </p:pic>
      <p:pic>
        <p:nvPicPr>
          <p:cNvPr id="5" name="Immagine 4" descr="✨ Introducing the New SPADE Logo">
            <a:extLst>
              <a:ext uri="{FF2B5EF4-FFF2-40B4-BE49-F238E27FC236}">
                <a16:creationId xmlns:a16="http://schemas.microsoft.com/office/drawing/2014/main" id="{7CC09E42-5AEA-13E0-7A19-7DAB95A0D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230" y="1526765"/>
            <a:ext cx="1448354" cy="1150252"/>
          </a:xfrm>
          <a:prstGeom prst="rect">
            <a:avLst/>
          </a:prstGeom>
        </p:spPr>
      </p:pic>
      <p:pic>
        <p:nvPicPr>
          <p:cNvPr id="6" name="Immagine 5" descr="LiteLLM (YC W23) (@LiteLLM) / Posts / X">
            <a:extLst>
              <a:ext uri="{FF2B5EF4-FFF2-40B4-BE49-F238E27FC236}">
                <a16:creationId xmlns:a16="http://schemas.microsoft.com/office/drawing/2014/main" id="{E9F176B3-5028-F278-D161-DA0E9B6CF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281" y="4972800"/>
            <a:ext cx="987760" cy="987760"/>
          </a:xfrm>
          <a:prstGeom prst="rect">
            <a:avLst/>
          </a:prstGeom>
        </p:spPr>
      </p:pic>
      <p:pic>
        <p:nvPicPr>
          <p:cNvPr id="7" name="Immagine 6" descr="brand-resources - Qdrant">
            <a:extLst>
              <a:ext uri="{FF2B5EF4-FFF2-40B4-BE49-F238E27FC236}">
                <a16:creationId xmlns:a16="http://schemas.microsoft.com/office/drawing/2014/main" id="{C649AB35-54C5-A03A-4091-025CD023B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416" y="1787715"/>
            <a:ext cx="884193" cy="1020223"/>
          </a:xfrm>
          <a:prstGeom prst="rect">
            <a:avLst/>
          </a:prstGeom>
        </p:spPr>
      </p:pic>
      <p:pic>
        <p:nvPicPr>
          <p:cNvPr id="8" name="Immagine 7" descr="Xmpp Icone, loghi, simboli – Download gratuito PNG, SVG">
            <a:extLst>
              <a:ext uri="{FF2B5EF4-FFF2-40B4-BE49-F238E27FC236}">
                <a16:creationId xmlns:a16="http://schemas.microsoft.com/office/drawing/2014/main" id="{49EC5FFB-B2EE-FD5D-2E72-D8EAA4C3A0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230" y="4033488"/>
            <a:ext cx="1252123" cy="125212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2F6047-38E3-A48D-8441-29CD82D0C455}"/>
              </a:ext>
            </a:extLst>
          </p:cNvPr>
          <p:cNvSpPr txBox="1"/>
          <p:nvPr/>
        </p:nvSpPr>
        <p:spPr>
          <a:xfrm>
            <a:off x="1436589" y="2845155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Qdrant</a:t>
            </a:r>
            <a:endParaRPr lang="it-IT" sz="20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D1EAB6E-CCE0-70DB-330D-262983886169}"/>
              </a:ext>
            </a:extLst>
          </p:cNvPr>
          <p:cNvSpPr txBox="1"/>
          <p:nvPr/>
        </p:nvSpPr>
        <p:spPr>
          <a:xfrm>
            <a:off x="3943962" y="1901727"/>
            <a:ext cx="13234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Streamlit</a:t>
            </a:r>
            <a:endParaRPr lang="it-IT" sz="20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8268796-CCB9-2573-D538-C60EC637505D}"/>
              </a:ext>
            </a:extLst>
          </p:cNvPr>
          <p:cNvSpPr txBox="1"/>
          <p:nvPr/>
        </p:nvSpPr>
        <p:spPr>
          <a:xfrm>
            <a:off x="5997363" y="2677017"/>
            <a:ext cx="1828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SPADE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F96048E-DE85-8B2C-385D-3B1D8BE0C316}"/>
              </a:ext>
            </a:extLst>
          </p:cNvPr>
          <p:cNvSpPr txBox="1"/>
          <p:nvPr/>
        </p:nvSpPr>
        <p:spPr>
          <a:xfrm>
            <a:off x="1704647" y="5290722"/>
            <a:ext cx="13234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Python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E88E928-2623-EFE8-D089-7A917E18E70E}"/>
              </a:ext>
            </a:extLst>
          </p:cNvPr>
          <p:cNvSpPr txBox="1"/>
          <p:nvPr/>
        </p:nvSpPr>
        <p:spPr>
          <a:xfrm>
            <a:off x="3959479" y="5993023"/>
            <a:ext cx="13234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Lite LLM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89D93A0-FCEA-237E-EDA8-8BEBA3242152}"/>
              </a:ext>
            </a:extLst>
          </p:cNvPr>
          <p:cNvSpPr txBox="1"/>
          <p:nvPr/>
        </p:nvSpPr>
        <p:spPr>
          <a:xfrm>
            <a:off x="6319411" y="5196069"/>
            <a:ext cx="98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XMPP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A3368E3E-D2BF-7E1C-D032-1B98DB6BF0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3453" y="2995142"/>
            <a:ext cx="837094" cy="947654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F4EC1EF-82B1-A4C9-50C0-A7D0B6230281}"/>
              </a:ext>
            </a:extLst>
          </p:cNvPr>
          <p:cNvSpPr txBox="1"/>
          <p:nvPr/>
        </p:nvSpPr>
        <p:spPr>
          <a:xfrm>
            <a:off x="3657956" y="3942796"/>
            <a:ext cx="1828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>
                <a:latin typeface="Roboto Slab" pitchFamily="2" charset="0"/>
                <a:ea typeface="Roboto Slab" pitchFamily="2" charset="0"/>
                <a:cs typeface="Roboto Slab" pitchFamily="2" charset="0"/>
              </a:rPr>
              <a:t>Agent Speak</a:t>
            </a:r>
          </a:p>
        </p:txBody>
      </p:sp>
    </p:spTree>
    <p:extLst>
      <p:ext uri="{BB962C8B-B14F-4D97-AF65-F5344CB8AC3E}">
        <p14:creationId xmlns:p14="http://schemas.microsoft.com/office/powerpoint/2010/main" val="140679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28560" y="4667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 fontScale="90000"/>
          </a:bodyPr>
          <a:lstStyle/>
          <a:p>
            <a:pPr defTabSz="685800"/>
            <a:r>
              <a:rPr lang="it-IT" sz="2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Why a </a:t>
            </a:r>
            <a:r>
              <a:rPr lang="it-IT" sz="22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hybrid</a:t>
            </a:r>
            <a:r>
              <a:rPr lang="it-IT" sz="2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multi-agent system?</a:t>
            </a:r>
            <a:br>
              <a:rPr lang="it-IT" sz="2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endParaRPr lang="it-IT" sz="2200" b="1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68680" y="5578259"/>
            <a:ext cx="7589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Explicit rules provide control and </a:t>
            </a:r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LLMs</a:t>
            </a:r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provide </a:t>
            </a:r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flexibility</a:t>
            </a:r>
            <a:endParaRPr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Rounded Rectangle 76">
            <a:extLst>
              <a:ext uri="{FF2B5EF4-FFF2-40B4-BE49-F238E27FC236}">
                <a16:creationId xmlns:a16="http://schemas.microsoft.com/office/drawing/2014/main" id="{35A2482B-068C-69B2-5A69-811465AEF1EF}"/>
              </a:ext>
            </a:extLst>
          </p:cNvPr>
          <p:cNvSpPr/>
          <p:nvPr/>
        </p:nvSpPr>
        <p:spPr>
          <a:xfrm>
            <a:off x="437747" y="2020069"/>
            <a:ext cx="2585472" cy="2602266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lang="it-IT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Reactive</a:t>
            </a:r>
            <a:r>
              <a:rPr lang="it-IT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Agent</a:t>
            </a:r>
          </a:p>
          <a:p>
            <a:pPr algn="ctr"/>
            <a:r>
              <a:rPr lang="it-IT" sz="1200" b="1" dirty="0" err="1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Reactive</a:t>
            </a:r>
            <a:r>
              <a:rPr lang="it-IT" sz="12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200" b="1" dirty="0" err="1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coordination</a:t>
            </a:r>
            <a:endParaRPr lang="it-IT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lang="it-IT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Gateway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EF7061B-4CF3-98C2-9793-6C057D04EE61}"/>
              </a:ext>
            </a:extLst>
          </p:cNvPr>
          <p:cNvSpPr txBox="1"/>
          <p:nvPr/>
        </p:nvSpPr>
        <p:spPr>
          <a:xfrm>
            <a:off x="628560" y="895886"/>
            <a:ext cx="7132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Each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task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is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assigned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to the decision-making model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that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best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fits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it</a:t>
            </a:r>
            <a:endParaRPr lang="it-IT" sz="16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2" name="Rounded Rectangle 76">
            <a:extLst>
              <a:ext uri="{FF2B5EF4-FFF2-40B4-BE49-F238E27FC236}">
                <a16:creationId xmlns:a16="http://schemas.microsoft.com/office/drawing/2014/main" id="{6ACC7C6E-60B0-659A-BC84-FDA946A04B45}"/>
              </a:ext>
            </a:extLst>
          </p:cNvPr>
          <p:cNvSpPr/>
          <p:nvPr/>
        </p:nvSpPr>
        <p:spPr>
          <a:xfrm>
            <a:off x="3237139" y="2020069"/>
            <a:ext cx="2585472" cy="2602266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lang="it-IT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BDI agents</a:t>
            </a:r>
          </a:p>
          <a:p>
            <a:pPr algn="ctr"/>
            <a:r>
              <a:rPr lang="it-IT" sz="12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Explicit </a:t>
            </a:r>
            <a:r>
              <a:rPr lang="it-IT" sz="1200" b="1" dirty="0" err="1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reasoning</a:t>
            </a:r>
            <a:r>
              <a:rPr lang="it-IT" sz="12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and control</a:t>
            </a:r>
          </a:p>
          <a:p>
            <a:pPr algn="ctr"/>
            <a:endParaRPr lang="it-IT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 err="1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Nutritionist</a:t>
            </a:r>
            <a:r>
              <a:rPr lang="it-IT" sz="12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· Planner · Chef</a:t>
            </a:r>
          </a:p>
        </p:txBody>
      </p:sp>
      <p:sp>
        <p:nvSpPr>
          <p:cNvPr id="14" name="Rounded Rectangle 76">
            <a:extLst>
              <a:ext uri="{FF2B5EF4-FFF2-40B4-BE49-F238E27FC236}">
                <a16:creationId xmlns:a16="http://schemas.microsoft.com/office/drawing/2014/main" id="{9ED0E663-807E-E667-8AE6-033C20B2F5CD}"/>
              </a:ext>
            </a:extLst>
          </p:cNvPr>
          <p:cNvSpPr/>
          <p:nvPr/>
        </p:nvSpPr>
        <p:spPr>
          <a:xfrm>
            <a:off x="6036531" y="2020069"/>
            <a:ext cx="2585472" cy="2602266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lang="en-US"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LLM agents</a:t>
            </a:r>
          </a:p>
          <a:p>
            <a:pPr algn="ctr"/>
            <a:r>
              <a:rPr lang="it-IT" sz="1200" b="1" dirty="0" err="1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Flexible</a:t>
            </a:r>
            <a:r>
              <a:rPr lang="it-IT" sz="12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200" b="1" dirty="0" err="1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interpretation</a:t>
            </a:r>
            <a:r>
              <a:rPr lang="it-IT" sz="1200" b="1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and generation</a:t>
            </a:r>
          </a:p>
          <a:p>
            <a:pPr algn="ctr"/>
            <a:endParaRPr lang="it-IT" sz="1200" b="1" dirty="0">
              <a:solidFill>
                <a:schemeClr val="tx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200" dirty="0">
                <a:solidFill>
                  <a:schemeClr val="tx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NLP Agent · Creative Cook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47385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defTabSz="685800"/>
            <a:r>
              <a:rPr lang="it-IT" sz="2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Nutri-MAS System Architecture</a:t>
            </a:r>
            <a:endParaRPr lang="it-IT" sz="2200" b="1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80" name="Picture 7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32" y="1588174"/>
            <a:ext cx="7832748" cy="243774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16B219E-F48A-A70D-48E4-D3EF8B179FE9}"/>
              </a:ext>
            </a:extLst>
          </p:cNvPr>
          <p:cNvSpPr txBox="1"/>
          <p:nvPr/>
        </p:nvSpPr>
        <p:spPr>
          <a:xfrm>
            <a:off x="628560" y="838899"/>
            <a:ext cx="7132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How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reactive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, BDI and LLM agents collaborate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within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Nutri-MAS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167FC9DF-9B6B-19E4-54DC-3C5DD5978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00162"/>
              </p:ext>
            </p:extLst>
          </p:nvPr>
        </p:nvGraphicFramePr>
        <p:xfrm>
          <a:off x="1839900" y="4436638"/>
          <a:ext cx="5317645" cy="181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7634">
                  <a:extLst>
                    <a:ext uri="{9D8B030D-6E8A-4147-A177-3AD203B41FA5}">
                      <a16:colId xmlns:a16="http://schemas.microsoft.com/office/drawing/2014/main" val="4026408334"/>
                    </a:ext>
                  </a:extLst>
                </a:gridCol>
                <a:gridCol w="3820011">
                  <a:extLst>
                    <a:ext uri="{9D8B030D-6E8A-4147-A177-3AD203B41FA5}">
                      <a16:colId xmlns:a16="http://schemas.microsoft.com/office/drawing/2014/main" val="3535544550"/>
                    </a:ext>
                  </a:extLst>
                </a:gridCol>
              </a:tblGrid>
              <a:tr h="25861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>
                          <a:solidFill>
                            <a:schemeClr val="accent2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>
                          <a:solidFill>
                            <a:schemeClr val="accent2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50318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sz="1100" dirty="0"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Gateway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Communication</a:t>
                      </a: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,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validation</a:t>
                      </a: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 and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routing</a:t>
                      </a:r>
                      <a:endParaRPr sz="11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272680068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sz="1100" dirty="0"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NLP Agent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Natural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language</a:t>
                      </a: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 →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AgentSpeak</a:t>
                      </a:r>
                      <a:endParaRPr sz="11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694222600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sz="1100" dirty="0"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Nutritionist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User state and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daily</a:t>
                      </a: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 monitoring</a:t>
                      </a:r>
                      <a:endParaRPr sz="11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263017830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sz="1100" dirty="0"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Planner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Weekly planning and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local</a:t>
                      </a: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replanning</a:t>
                      </a:r>
                      <a:endParaRPr sz="11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91825557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sz="1100"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Chef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Valid template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selection</a:t>
                      </a:r>
                      <a:endParaRPr sz="11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131255322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sz="1100" dirty="0"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Creative Cook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Recipe generation and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meal</a:t>
                      </a:r>
                      <a:r>
                        <a:rPr lang="it-IT" sz="1100" kern="1200" dirty="0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 </a:t>
                      </a:r>
                      <a:r>
                        <a:rPr lang="it-IT" sz="1100" kern="1200" dirty="0" err="1">
                          <a:solidFill>
                            <a:schemeClr val="dk1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estimation</a:t>
                      </a:r>
                      <a:endParaRPr sz="110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6046961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B0AC-6AF9-1959-D1B9-05C1339F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02B5A833-C4D7-DB93-10DA-C3AC1BC8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35865"/>
            <a:ext cx="7875000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defTabSz="685800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Gateway</a:t>
            </a:r>
            <a:endParaRPr lang="it-IT" sz="2000" b="1" u="none" strike="noStrike" dirty="0">
              <a:solidFill>
                <a:schemeClr val="accent2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633D56-3AB9-E1C1-BC5D-A6FAD914B325}"/>
              </a:ext>
            </a:extLst>
          </p:cNvPr>
          <p:cNvSpPr txBox="1"/>
          <p:nvPr/>
        </p:nvSpPr>
        <p:spPr>
          <a:xfrm>
            <a:off x="640080" y="838418"/>
            <a:ext cx="7863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Reactive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coordination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between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the user </a:t>
            </a:r>
            <a:r>
              <a:rPr lang="it-IT" sz="16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interface</a:t>
            </a:r>
            <a:r>
              <a:rPr lang="it-IT" sz="16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and the multi-agent system</a:t>
            </a:r>
            <a:endParaRPr lang="it-IT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BF1A707-A92A-B511-CD2E-82D640954805}"/>
              </a:ext>
            </a:extLst>
          </p:cNvPr>
          <p:cNvSpPr txBox="1"/>
          <p:nvPr/>
        </p:nvSpPr>
        <p:spPr>
          <a:xfrm>
            <a:off x="762000" y="1871717"/>
            <a:ext cx="7162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Receive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Receives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user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from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Streamlit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UI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Preserves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context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of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questions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answers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Sends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natural-language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requests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to the NLP Agent </a:t>
            </a:r>
          </a:p>
          <a:p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Validate &amp;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translated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AgentSpeak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commands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Routes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each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command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to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correct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domain agent </a:t>
            </a:r>
          </a:p>
          <a:p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Reply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Receives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structured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responses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from the agents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Publishes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results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system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notifications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to the UI</a:t>
            </a:r>
          </a:p>
        </p:txBody>
      </p:sp>
    </p:spTree>
    <p:extLst>
      <p:ext uri="{BB962C8B-B14F-4D97-AF65-F5344CB8AC3E}">
        <p14:creationId xmlns:p14="http://schemas.microsoft.com/office/powerpoint/2010/main" val="191006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3AF0-F09B-29D1-C155-90748CA83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373876AF-8542-11DC-A88B-156ABAF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35865"/>
            <a:ext cx="7875000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defTabSz="685800"/>
            <a:r>
              <a:rPr lang="it-IT" sz="2000" b="1" u="none" strike="noStrike" dirty="0">
                <a:effectLst/>
                <a:uFillTx/>
                <a:latin typeface="Roboto Slab" pitchFamily="2" charset="0"/>
                <a:ea typeface="Roboto Slab" pitchFamily="2" charset="0"/>
                <a:cs typeface="Roboto Slab" pitchFamily="2" charset="0"/>
              </a:rPr>
              <a:t>NLP Agent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5FE04F-74CC-F2BA-5CEB-9DC7E51D00DA}"/>
              </a:ext>
            </a:extLst>
          </p:cNvPr>
          <p:cNvSpPr txBox="1"/>
          <p:nvPr/>
        </p:nvSpPr>
        <p:spPr>
          <a:xfrm>
            <a:off x="628920" y="870417"/>
            <a:ext cx="7875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Controlled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translation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from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natural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language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to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AgentSpeak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commands</a:t>
            </a:r>
            <a:endParaRPr lang="it-IT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0CE22C1-7E5F-87D2-F3CB-74A7B8C65381}"/>
              </a:ext>
            </a:extLst>
          </p:cNvPr>
          <p:cNvSpPr txBox="1"/>
          <p:nvPr/>
        </p:nvSpPr>
        <p:spPr>
          <a:xfrm>
            <a:off x="640080" y="1579525"/>
            <a:ext cx="74523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Interpret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Receives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natural-language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requests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from the Gateway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previous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question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context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when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interpreting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short or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ambiguous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answers</a:t>
            </a: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Retrieve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&amp;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select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Searches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Qdrant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for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semantically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related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linguistic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Retrieves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candidate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definitions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from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registry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Selects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that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best matches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user’s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intent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Build &amp; validate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Fills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arguments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defined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by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selected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schema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syntax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arity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variables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destination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Submits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resulting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AgentSpeak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command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33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A74F1-30E3-4F2D-0011-21E743F2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2BFEF999-25B0-E0CC-687C-678D6E06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20" y="253713"/>
            <a:ext cx="7875000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defTabSz="685800"/>
            <a:r>
              <a:rPr lang="it-IT" sz="2000" b="1" u="none" strike="noStrike" dirty="0">
                <a:effectLst/>
                <a:uFillTx/>
                <a:latin typeface="Roboto Slab" pitchFamily="2" charset="0"/>
                <a:ea typeface="Roboto Slab" pitchFamily="2" charset="0"/>
                <a:cs typeface="Roboto Slab" pitchFamily="2" charset="0"/>
              </a:rPr>
              <a:t>NLP Agent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9A2F76-39FD-CCDF-6522-1F8C730AF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9" b="1"/>
          <a:stretch>
            <a:fillRect/>
          </a:stretch>
        </p:blipFill>
        <p:spPr>
          <a:xfrm>
            <a:off x="3169673" y="2262348"/>
            <a:ext cx="5499859" cy="74622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1C33FE2-1966-3A55-A4C3-4FD195510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55" y="3079432"/>
            <a:ext cx="6089199" cy="322712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A63EDBE-4963-D6D3-219A-61FC18297184}"/>
              </a:ext>
            </a:extLst>
          </p:cNvPr>
          <p:cNvSpPr txBox="1"/>
          <p:nvPr/>
        </p:nvSpPr>
        <p:spPr>
          <a:xfrm>
            <a:off x="6595166" y="1413840"/>
            <a:ext cx="2183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Input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Context</a:t>
            </a:r>
            <a:endParaRPr lang="it-IT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0C4295C-864F-8FC0-92A7-611B1EF2C44F}"/>
              </a:ext>
            </a:extLst>
          </p:cNvPr>
          <p:cNvSpPr txBox="1"/>
          <p:nvPr/>
        </p:nvSpPr>
        <p:spPr>
          <a:xfrm>
            <a:off x="1295608" y="2466181"/>
            <a:ext cx="2183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Found template</a:t>
            </a:r>
            <a:endParaRPr lang="it-IT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D3469EC-6942-1C73-0724-0E169937C22B}"/>
              </a:ext>
            </a:extLst>
          </p:cNvPr>
          <p:cNvSpPr txBox="1"/>
          <p:nvPr/>
        </p:nvSpPr>
        <p:spPr>
          <a:xfrm>
            <a:off x="6553854" y="4523715"/>
            <a:ext cx="2491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Performative schema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ED3BC172-A744-0F69-4288-DA311EDB9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28" y="974751"/>
            <a:ext cx="6225971" cy="1216733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853415A-9F0F-C977-D76B-EC79CD24CAAA}"/>
              </a:ext>
            </a:extLst>
          </p:cNvPr>
          <p:cNvSpPr txBox="1"/>
          <p:nvPr/>
        </p:nvSpPr>
        <p:spPr>
          <a:xfrm>
            <a:off x="628920" y="572689"/>
            <a:ext cx="787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Natural </a:t>
            </a:r>
            <a:r>
              <a:rPr lang="it-IT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language</a:t>
            </a:r>
            <a:r>
              <a:rPr lang="it-IT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translation</a:t>
            </a:r>
            <a:r>
              <a:rPr lang="it-IT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pipeline</a:t>
            </a:r>
          </a:p>
        </p:txBody>
      </p:sp>
    </p:spTree>
    <p:extLst>
      <p:ext uri="{BB962C8B-B14F-4D97-AF65-F5344CB8AC3E}">
        <p14:creationId xmlns:p14="http://schemas.microsoft.com/office/powerpoint/2010/main" val="313266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16516-8C84-E0E6-67D8-84E1FDEE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75B4773E-2687-7B0C-BDEB-C871A7E1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35865"/>
            <a:ext cx="7875000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defTabSz="685800"/>
            <a:r>
              <a:rPr lang="it-IT" sz="20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Nutrizionist</a:t>
            </a:r>
            <a:endParaRPr lang="it-IT" sz="2000" b="1" u="none" strike="noStrike" dirty="0">
              <a:solidFill>
                <a:schemeClr val="accent2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A11D42-FD5A-9F3F-6A8D-89A311EDE4F2}"/>
              </a:ext>
            </a:extLst>
          </p:cNvPr>
          <p:cNvSpPr txBox="1"/>
          <p:nvPr/>
        </p:nvSpPr>
        <p:spPr>
          <a:xfrm>
            <a:off x="640080" y="838418"/>
            <a:ext cx="6677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User state,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 and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daily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adaptation</a:t>
            </a:r>
            <a:endParaRPr lang="it-IT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4A9CC64-D2EE-F6AF-BCCE-792ACC0B42B8}"/>
              </a:ext>
            </a:extLst>
          </p:cNvPr>
          <p:cNvSpPr txBox="1"/>
          <p:nvPr/>
        </p:nvSpPr>
        <p:spPr>
          <a:xfrm>
            <a:off x="640080" y="1495631"/>
            <a:ext cx="77763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Manage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user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Collects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updates the user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profile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Calculates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goals,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calories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macronutrient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Maintains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weight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histories</a:t>
            </a:r>
          </a:p>
          <a:p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Monitor the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daily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Detects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when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-slot time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crossed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Requests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confirmation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of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planned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Records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confirmed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or off-plan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consumption</a:t>
            </a: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Adapt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Regenerates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weekly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plan after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relevant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profile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changes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Triggers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local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rebalancing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after an off-plan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Coordinates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Planner and Creative Cook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when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updates are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required</a:t>
            </a: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888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B527-0D89-A5E5-F8C7-BECC0942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0E8886C9-9E16-8BD0-74F1-C5E8298D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35865"/>
            <a:ext cx="7875000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defTabSz="685800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Planner</a:t>
            </a:r>
            <a:endParaRPr lang="it-IT" sz="2000" b="1" u="none" strike="noStrike" dirty="0">
              <a:solidFill>
                <a:schemeClr val="accent2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34D9B4-240F-4FDA-9732-9B7C43FDE650}"/>
              </a:ext>
            </a:extLst>
          </p:cNvPr>
          <p:cNvSpPr txBox="1"/>
          <p:nvPr/>
        </p:nvSpPr>
        <p:spPr>
          <a:xfrm>
            <a:off x="640080" y="838418"/>
            <a:ext cx="6677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Global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weekly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planning, recipe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orchestration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local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replanning</a:t>
            </a:r>
            <a:endParaRPr lang="it-IT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28D78A-561F-A531-5E46-CE8CE2A5194A}"/>
              </a:ext>
            </a:extLst>
          </p:cNvPr>
          <p:cNvSpPr txBox="1"/>
          <p:nvPr/>
        </p:nvSpPr>
        <p:spPr>
          <a:xfrm>
            <a:off x="640080" y="1527137"/>
            <a:ext cx="80467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Build the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weekly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structure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Converts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into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Requests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 domains from the Chef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Choose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while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enforcing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daily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variety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weekly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category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frequencies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constraints</a:t>
            </a: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Materialize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activate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Sends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selected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 to the Creative Cook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Collects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generated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recipes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in a temporary draft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Replan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individual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meals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Receives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updated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 from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Nutritionist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Rebuilds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only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future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affected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by a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deviation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Coordinates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Chef and Creative Cook for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replacement</a:t>
            </a: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53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1556-BFB2-821C-CDD5-28D385A9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D4E3C331-007F-7520-4D93-798689AD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35865"/>
            <a:ext cx="7875000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defTabSz="685800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Chef</a:t>
            </a:r>
            <a:endParaRPr lang="it-IT" sz="2000" b="1" u="none" strike="noStrike" dirty="0">
              <a:solidFill>
                <a:schemeClr val="accent2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FF35C9-3B17-DA92-DFFC-C090758447AE}"/>
              </a:ext>
            </a:extLst>
          </p:cNvPr>
          <p:cNvSpPr txBox="1"/>
          <p:nvPr/>
        </p:nvSpPr>
        <p:spPr>
          <a:xfrm>
            <a:off x="640080" y="838418"/>
            <a:ext cx="6677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Deterministic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filtering of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</a:t>
            </a:r>
            <a:endParaRPr lang="it-IT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5A5AAB9-17AB-DFFD-54B9-D5DE9A3C6DAD}"/>
              </a:ext>
            </a:extLst>
          </p:cNvPr>
          <p:cNvSpPr txBox="1"/>
          <p:nvPr/>
        </p:nvSpPr>
        <p:spPr>
          <a:xfrm>
            <a:off x="640080" y="1447663"/>
            <a:ext cx="80365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Maintain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template knowledge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Stores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available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BDI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beliefs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Associates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each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 with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diet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type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slot, food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category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calories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macronutrients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Filter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candidates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Applies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explicit rules for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diet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slot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Excludes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already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explicitly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forbidden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Supports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guided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requests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for a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specific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food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category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Introduces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variability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only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among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candidates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Return planning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candidates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Provides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complete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domain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during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weekly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planning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Selects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one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strict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candidate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during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local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replanning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Returns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 explicit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failure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when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no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exists</a:t>
            </a: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56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007CC-B93A-699E-9350-AAB7E4AD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8996A441-E7CF-D7BA-98B5-08837C4A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35865"/>
            <a:ext cx="7875000" cy="402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defTabSz="685800"/>
            <a:r>
              <a:rPr lang="it-IT" sz="20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Creative Cook</a:t>
            </a:r>
            <a:endParaRPr lang="it-IT" sz="2000" b="1" u="none" strike="noStrike" dirty="0">
              <a:solidFill>
                <a:schemeClr val="accent2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68142C8-46C6-05A2-6324-6C2290697DB6}"/>
              </a:ext>
            </a:extLst>
          </p:cNvPr>
          <p:cNvSpPr txBox="1"/>
          <p:nvPr/>
        </p:nvSpPr>
        <p:spPr>
          <a:xfrm>
            <a:off x="640080" y="838418"/>
            <a:ext cx="6677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LLM-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based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recipe generation and off-plan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sz="1600" b="1" dirty="0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estimation</a:t>
            </a:r>
            <a:endParaRPr lang="it-IT" b="1" dirty="0">
              <a:solidFill>
                <a:schemeClr val="accent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A9E458B-1F65-4041-7DDE-FA4FC0443F54}"/>
              </a:ext>
            </a:extLst>
          </p:cNvPr>
          <p:cNvSpPr txBox="1"/>
          <p:nvPr/>
        </p:nvSpPr>
        <p:spPr>
          <a:xfrm>
            <a:off x="640080" y="1579525"/>
            <a:ext cx="74042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Recipe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Receives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validated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Retrieves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diet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allergens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culinary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preferences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Searches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Qdrant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for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suitable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ingredients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Defines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ingredients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quantities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preparation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steps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Estimates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calories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macronutrients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Returns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structured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recipe to the Planner </a:t>
            </a:r>
          </a:p>
          <a:p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Off-plan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evaluation</a:t>
            </a:r>
            <a:endParaRPr lang="it-IT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Interprets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freely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described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Searches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for the complete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dish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or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decomposes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into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ingredients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Estimates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portions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calories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macronutrients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Maps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to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closest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available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Returns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estimate to the </a:t>
            </a:r>
            <a:r>
              <a:rPr lang="it-IT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Nutritionist</a:t>
            </a:r>
            <a:endParaRPr lang="it-IT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733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07517" cy="51986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defTabSz="685800"/>
            <a:r>
              <a:rPr lang="it-IT" sz="2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How do the agents </a:t>
            </a:r>
            <a:r>
              <a:rPr lang="it-IT" sz="22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communicate</a:t>
            </a:r>
            <a:r>
              <a:rPr lang="it-IT" sz="2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?</a:t>
            </a:r>
            <a:endParaRPr lang="it-IT" sz="2200" b="1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E4D628D-2344-6F7B-A28D-A251C957D2AA}"/>
              </a:ext>
            </a:extLst>
          </p:cNvPr>
          <p:cNvSpPr txBox="1"/>
          <p:nvPr/>
        </p:nvSpPr>
        <p:spPr>
          <a:xfrm>
            <a:off x="628560" y="1095652"/>
            <a:ext cx="35301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All agents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exchange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through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XMPP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while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bodies use </a:t>
            </a:r>
            <a:r>
              <a:rPr lang="it-IT" sz="16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AgentSpeak-compatible</a:t>
            </a: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syntax</a:t>
            </a: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. </a:t>
            </a:r>
          </a:p>
          <a:p>
            <a:endParaRPr lang="it-IT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Adapting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to the BDI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TellBridge</a:t>
            </a: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converts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 tell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into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belief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update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AchieveBridge</a:t>
            </a: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converts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achieve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into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 achievement goal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The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resulting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belief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or goal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becomes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 event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processed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by the BDI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reasoning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cycle</a:t>
            </a:r>
            <a:endParaRPr lang="it-IT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BDI agents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communicate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with non-BDI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components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through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custom Python actions,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which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send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standard XMPP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messages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.</a:t>
            </a:r>
          </a:p>
        </p:txBody>
      </p:sp>
      <p:pic>
        <p:nvPicPr>
          <p:cNvPr id="8" name="Immagine 7" descr="Grafico aggiornato">
            <a:extLst>
              <a:ext uri="{FF2B5EF4-FFF2-40B4-BE49-F238E27FC236}">
                <a16:creationId xmlns:a16="http://schemas.microsoft.com/office/drawing/2014/main" id="{149A4736-55E4-B671-B335-ACEDB1E29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692" y="1693470"/>
            <a:ext cx="4455998" cy="38211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3742104" cy="46547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Weekly plan generation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88" name="Picture 87" descr="workflow_weekly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59" y="1226017"/>
            <a:ext cx="7436409" cy="46911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170A-2174-0148-B104-3CC831D9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>
            <a:extLst>
              <a:ext uri="{FF2B5EF4-FFF2-40B4-BE49-F238E27FC236}">
                <a16:creationId xmlns:a16="http://schemas.microsoft.com/office/drawing/2014/main" id="{2D05D8C4-7B34-DEC9-8EBB-0C9F01DE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59" y="465708"/>
            <a:ext cx="3742104" cy="46547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Meal Monitoring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6" name="Picture 103" descr="workflow_monitoring.png">
            <a:extLst>
              <a:ext uri="{FF2B5EF4-FFF2-40B4-BE49-F238E27FC236}">
                <a16:creationId xmlns:a16="http://schemas.microsoft.com/office/drawing/2014/main" id="{A35724DD-0495-E60D-2738-5004A697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72"/>
          <a:stretch>
            <a:fillRect/>
          </a:stretch>
        </p:blipFill>
        <p:spPr>
          <a:xfrm>
            <a:off x="465351" y="1491467"/>
            <a:ext cx="7810623" cy="401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87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DBAB-4828-D74C-C5DB-E80619DF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>
            <a:extLst>
              <a:ext uri="{FF2B5EF4-FFF2-40B4-BE49-F238E27FC236}">
                <a16:creationId xmlns:a16="http://schemas.microsoft.com/office/drawing/2014/main" id="{D5EB3D0C-761F-2401-4C38-F150532C9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59" y="465708"/>
            <a:ext cx="3742104" cy="46547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Weight Update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78DBFA2-F48B-D9A8-326D-2AD2FE415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6" y="1719538"/>
            <a:ext cx="7802868" cy="341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78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2201-B84E-26DF-8EFF-1641BC8F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>
            <a:extLst>
              <a:ext uri="{FF2B5EF4-FFF2-40B4-BE49-F238E27FC236}">
                <a16:creationId xmlns:a16="http://schemas.microsoft.com/office/drawing/2014/main" id="{E1B28A27-9E4B-A5A6-19AC-34E67B40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59" y="465708"/>
            <a:ext cx="3742104" cy="46547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lang="it-IT" sz="2200" b="1" u="none" strike="noStrike" dirty="0">
                <a:solidFill>
                  <a:schemeClr val="dk1"/>
                </a:solidFill>
                <a:effectLst/>
                <a:uFillTx/>
                <a:latin typeface="Roboto Slab" pitchFamily="2" charset="0"/>
                <a:ea typeface="Roboto Slab" pitchFamily="2" charset="0"/>
                <a:cs typeface="Roboto Slab" pitchFamily="2" charset="0"/>
              </a:rPr>
              <a:t>Daily Plan </a:t>
            </a:r>
            <a:r>
              <a:rPr lang="it-IT" sz="2200" b="1" u="none" strike="noStrike" dirty="0" err="1">
                <a:solidFill>
                  <a:schemeClr val="dk1"/>
                </a:solidFill>
                <a:effectLst/>
                <a:uFillTx/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Rebalancing</a:t>
            </a:r>
            <a:endParaRPr lang="it-IT" sz="2200" b="1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1B14178-1F1C-1191-F1B3-F631989CE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76" y="1899443"/>
            <a:ext cx="7656574" cy="305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89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F752-54B1-9305-ACC8-E97F390F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>
            <a:extLst>
              <a:ext uri="{FF2B5EF4-FFF2-40B4-BE49-F238E27FC236}">
                <a16:creationId xmlns:a16="http://schemas.microsoft.com/office/drawing/2014/main" id="{48615273-04FD-3FEA-9FB8-F772CA83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30" y="544366"/>
            <a:ext cx="3742104" cy="46547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defTabSz="685800"/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Data management</a:t>
            </a:r>
            <a:endParaRPr lang="it-IT" sz="2200" b="1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TextBox 92">
            <a:extLst>
              <a:ext uri="{FF2B5EF4-FFF2-40B4-BE49-F238E27FC236}">
                <a16:creationId xmlns:a16="http://schemas.microsoft.com/office/drawing/2014/main" id="{8811AB3C-B0F4-9ED9-01F1-96316040CFA7}"/>
              </a:ext>
            </a:extLst>
          </p:cNvPr>
          <p:cNvSpPr txBox="1"/>
          <p:nvPr/>
        </p:nvSpPr>
        <p:spPr>
          <a:xfrm>
            <a:off x="605230" y="2032138"/>
            <a:ext cx="3474720" cy="31416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 dirty="0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CSV</a:t>
            </a:r>
            <a:endParaRPr lang="it-IT" b="1" dirty="0">
              <a:solidFill>
                <a:srgbClr val="00845C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" name="TextBox 93">
            <a:extLst>
              <a:ext uri="{FF2B5EF4-FFF2-40B4-BE49-F238E27FC236}">
                <a16:creationId xmlns:a16="http://schemas.microsoft.com/office/drawing/2014/main" id="{87B84DBE-93F4-A4AC-754F-8CBF7A851479}"/>
              </a:ext>
            </a:extLst>
          </p:cNvPr>
          <p:cNvSpPr txBox="1"/>
          <p:nvPr/>
        </p:nvSpPr>
        <p:spPr>
          <a:xfrm>
            <a:off x="551617" y="2585695"/>
            <a:ext cx="3520440" cy="16866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Persistent state</a:t>
            </a:r>
            <a:endParaRPr lang="it-IT" sz="1400" b="1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sz="12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user, weight logs, meal logs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sz="13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sz="14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Materialized plans</a:t>
            </a:r>
            <a:endParaRPr lang="it-IT" sz="1400" b="1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sz="12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weekly recipes and selected templates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sz="13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sz="14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Static knowledge</a:t>
            </a:r>
            <a:endParaRPr lang="it-IT" sz="1400" b="1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sz="12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templates, nutrition rules, ingredients</a:t>
            </a:r>
            <a:endParaRPr lang="it-IT" sz="12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8" name="TextBox 94">
            <a:extLst>
              <a:ext uri="{FF2B5EF4-FFF2-40B4-BE49-F238E27FC236}">
                <a16:creationId xmlns:a16="http://schemas.microsoft.com/office/drawing/2014/main" id="{50F10E92-060F-9653-691C-898A09225BF1}"/>
              </a:ext>
            </a:extLst>
          </p:cNvPr>
          <p:cNvSpPr txBox="1"/>
          <p:nvPr/>
        </p:nvSpPr>
        <p:spPr>
          <a:xfrm>
            <a:off x="4686300" y="2038943"/>
            <a:ext cx="3474720" cy="49033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Qdrant</a:t>
            </a:r>
            <a:r>
              <a:rPr lang="it-IT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  <a:p>
            <a:pPr algn="ctr"/>
            <a:endParaRPr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" name="TextBox 95">
            <a:extLst>
              <a:ext uri="{FF2B5EF4-FFF2-40B4-BE49-F238E27FC236}">
                <a16:creationId xmlns:a16="http://schemas.microsoft.com/office/drawing/2014/main" id="{8BACA388-0332-7F94-F812-90C68C388DCB}"/>
              </a:ext>
            </a:extLst>
          </p:cNvPr>
          <p:cNvSpPr txBox="1"/>
          <p:nvPr/>
        </p:nvSpPr>
        <p:spPr>
          <a:xfrm>
            <a:off x="4686300" y="2585695"/>
            <a:ext cx="3520440" cy="15104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it-IT" sz="14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</a:t>
            </a:r>
            <a:r>
              <a:rPr sz="1400" b="1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ngredients</a:t>
            </a:r>
            <a:endParaRPr lang="it-IT" sz="1400" b="1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sz="13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semantic search over food names and nutrients</a:t>
            </a:r>
            <a:endParaRPr lang="it-IT" sz="13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endParaRPr sz="13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lang="it-IT" sz="14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</a:t>
            </a:r>
            <a:r>
              <a:rPr sz="1400" b="1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ranslations</a:t>
            </a:r>
            <a:endParaRPr lang="it-IT" sz="1400" b="1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algn="ctr"/>
            <a:r>
              <a:rPr sz="13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user </a:t>
            </a:r>
            <a:r>
              <a:rPr lang="it-IT" sz="1300" dirty="0" err="1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question</a:t>
            </a:r>
            <a:r>
              <a:rPr sz="13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mapped to </a:t>
            </a:r>
            <a:r>
              <a:rPr lang="it-IT" sz="1300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performative</a:t>
            </a:r>
            <a:endParaRPr sz="13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009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F605843-83F7-339D-E06D-E51B7B4A4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63"/>
          <a:stretch>
            <a:fillRect/>
          </a:stretch>
        </p:blipFill>
        <p:spPr>
          <a:xfrm>
            <a:off x="1956815" y="232812"/>
            <a:ext cx="6828979" cy="6392376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665002F-2772-2DDF-EE19-103A77C9242D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Onboarding</a:t>
            </a:r>
            <a:endParaRPr lang="it-IT"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A44A-8DF1-946C-CE93-76C9A6931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089E5EFD-AA53-6493-456B-582687F80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F59300F-DDE9-95A6-2497-661FE5E7B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71"/>
          <a:stretch>
            <a:fillRect/>
          </a:stretch>
        </p:blipFill>
        <p:spPr>
          <a:xfrm>
            <a:off x="1856232" y="1095602"/>
            <a:ext cx="6975663" cy="5015778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BF96843-B0F0-1F83-3CC6-2A7E7CC76E32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Onboarding</a:t>
            </a:r>
            <a:endParaRPr lang="it-IT"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44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D78C3-64FA-9132-FC0E-F766B3DC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D3800AA4-B056-D96F-3FC3-22FE16D9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1B238B4-FCD3-26B3-04B8-0427A90E5902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Week plan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0A5A08-A917-96A1-5844-FC2DB72609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94" y="859140"/>
            <a:ext cx="6895001" cy="545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36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19E6-1E72-78E1-C356-A87FF6131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0D43A781-AEC1-B16E-4A56-4CD5FAE7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73294E2-C11F-C6AF-4F22-4017BA95272E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Daily plan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E391C81-827C-951B-DFE3-FBF47262FA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" r="2639" b="53976"/>
          <a:stretch>
            <a:fillRect/>
          </a:stretch>
        </p:blipFill>
        <p:spPr>
          <a:xfrm>
            <a:off x="619522" y="1353240"/>
            <a:ext cx="7895558" cy="439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0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81B9-5A47-08CC-497B-5666FD87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13EA249F-EE45-F7C4-36B6-FB01418D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BC86A53-8B34-F07E-8899-8D9ACABDDCFC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Week plan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4EDCF46-B485-F966-E612-54D42940D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14"/>
          <a:stretch>
            <a:fillRect/>
          </a:stretch>
        </p:blipFill>
        <p:spPr>
          <a:xfrm>
            <a:off x="1197799" y="1435977"/>
            <a:ext cx="6748042" cy="454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23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55E4-DEC0-C2C2-10CD-EF0D9EFD5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89D8734E-45F7-AC4B-A6D8-3F5E87FB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805A6D8-9B49-185E-8622-8A652C6D945E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Daily plan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8CF304F-2C2C-4597-8644-80DDDE926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t="45668" r="3445" b="6020"/>
          <a:stretch>
            <a:fillRect/>
          </a:stretch>
        </p:blipFill>
        <p:spPr>
          <a:xfrm>
            <a:off x="628560" y="1124712"/>
            <a:ext cx="7886520" cy="49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04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E82B-6CFC-D54C-E584-31535FA36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36215714-2E02-E858-FA97-C9224A3F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7678800-5FFF-59B4-44F7-A95EDBD71FC7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Active Monitoring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AB40214-44ED-286D-62FD-1A0A4034FE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6" r="3459"/>
          <a:stretch>
            <a:fillRect/>
          </a:stretch>
        </p:blipFill>
        <p:spPr>
          <a:xfrm>
            <a:off x="1027778" y="1254863"/>
            <a:ext cx="7088084" cy="517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67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4348B-C77B-6FE4-86B8-39430EC1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BDB8C858-78D8-6180-DDAD-805A26F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F3D1BD0-7818-3196-C667-F82ACC2FBB99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Target </a:t>
            </a:r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Reached</a:t>
            </a:r>
            <a:endParaRPr lang="it-IT"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D65695B-4431-B551-6711-135D19826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" t="1623" r="1654"/>
          <a:stretch>
            <a:fillRect/>
          </a:stretch>
        </p:blipFill>
        <p:spPr>
          <a:xfrm>
            <a:off x="2657448" y="344394"/>
            <a:ext cx="6120792" cy="614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85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6234-78AB-ADA1-4461-70557C52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BAA045C6-EFD1-0371-D387-3C761685A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E72DE2E-4A64-D733-1375-5D80BBC34027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Rebalancing</a:t>
            </a:r>
            <a:endParaRPr lang="it-IT"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28BBACA-7B50-D002-2B9C-BCE87B2DFC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" t="139" r="2546" b="76698"/>
          <a:stretch>
            <a:fillRect/>
          </a:stretch>
        </p:blipFill>
        <p:spPr>
          <a:xfrm>
            <a:off x="598367" y="1558635"/>
            <a:ext cx="7946905" cy="374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20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3F023-7016-8333-E707-8F435C932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2">
            <a:extLst>
              <a:ext uri="{FF2B5EF4-FFF2-40B4-BE49-F238E27FC236}">
                <a16:creationId xmlns:a16="http://schemas.microsoft.com/office/drawing/2014/main" id="{355D388C-5EFA-1346-9AC3-F855F7E18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indent="0" algn="l" defTabSz="685800">
              <a:lnSpc>
                <a:spcPct val="90000"/>
              </a:lnSpc>
              <a:buNone/>
            </a:pPr>
            <a:r>
              <a:rPr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Dem</a:t>
            </a:r>
            <a:r>
              <a:rPr lang="it-IT" sz="2200" b="1" dirty="0">
                <a:solidFill>
                  <a:srgbClr val="141414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</a:t>
            </a:r>
            <a:endParaRPr lang="it-IT" sz="2800" b="0" u="none" strike="noStrike" dirty="0">
              <a:solidFill>
                <a:schemeClr val="dk1"/>
              </a:solidFill>
              <a:effectLst/>
              <a:uFillTx/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23C613F-C08F-BE19-06B5-CA7ED407AF1E}"/>
              </a:ext>
            </a:extLst>
          </p:cNvPr>
          <p:cNvSpPr txBox="1"/>
          <p:nvPr/>
        </p:nvSpPr>
        <p:spPr>
          <a:xfrm>
            <a:off x="628560" y="746620"/>
            <a:ext cx="174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Rebalancing</a:t>
            </a:r>
            <a:endParaRPr lang="it-IT"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218D3F2-08D5-8793-5A30-A214F0A7B3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" t="55307" r="32308" b="5246"/>
          <a:stretch>
            <a:fillRect/>
          </a:stretch>
        </p:blipFill>
        <p:spPr>
          <a:xfrm>
            <a:off x="4571820" y="1414459"/>
            <a:ext cx="4358785" cy="510001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20BCF07-FCC0-8AFA-AB46-C12C4EA07B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" t="42517" r="26809" b="11587"/>
          <a:stretch>
            <a:fillRect/>
          </a:stretch>
        </p:blipFill>
        <p:spPr>
          <a:xfrm>
            <a:off x="295480" y="1414459"/>
            <a:ext cx="3944042" cy="5056983"/>
          </a:xfrm>
          <a:prstGeom prst="rect">
            <a:avLst/>
          </a:prstGeom>
        </p:spPr>
      </p:pic>
      <p:sp>
        <p:nvSpPr>
          <p:cNvPr id="8" name="TextBox 79">
            <a:extLst>
              <a:ext uri="{FF2B5EF4-FFF2-40B4-BE49-F238E27FC236}">
                <a16:creationId xmlns:a16="http://schemas.microsoft.com/office/drawing/2014/main" id="{D7163944-2C67-5298-685C-01116E7EB884}"/>
              </a:ext>
            </a:extLst>
          </p:cNvPr>
          <p:cNvSpPr txBox="1"/>
          <p:nvPr/>
        </p:nvSpPr>
        <p:spPr>
          <a:xfrm>
            <a:off x="1794998" y="1054397"/>
            <a:ext cx="945006" cy="24065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/>
            <a:r>
              <a:rPr lang="it-IT" sz="14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Before</a:t>
            </a:r>
            <a:endParaRPr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" name="TextBox 79">
            <a:extLst>
              <a:ext uri="{FF2B5EF4-FFF2-40B4-BE49-F238E27FC236}">
                <a16:creationId xmlns:a16="http://schemas.microsoft.com/office/drawing/2014/main" id="{D584E846-4359-FA9A-5E7D-B907F1BC6C09}"/>
              </a:ext>
            </a:extLst>
          </p:cNvPr>
          <p:cNvSpPr txBox="1"/>
          <p:nvPr/>
        </p:nvSpPr>
        <p:spPr>
          <a:xfrm>
            <a:off x="6055777" y="1054397"/>
            <a:ext cx="1390870" cy="263321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lang="it-IT" sz="1400" b="1" dirty="0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Rebalanced</a:t>
            </a:r>
            <a:endParaRPr sz="14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511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A0D64-A70F-9D45-D6D6-8C591239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2">
            <a:extLst>
              <a:ext uri="{FF2B5EF4-FFF2-40B4-BE49-F238E27FC236}">
                <a16:creationId xmlns:a16="http://schemas.microsoft.com/office/drawing/2014/main" id="{324F5DAF-1260-B22A-2C95-EE30540D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60" y="402790"/>
            <a:ext cx="7793987" cy="4277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it-IT" sz="2200" b="1" dirty="0" err="1">
                <a:solidFill>
                  <a:schemeClr val="accent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Limitations</a:t>
            </a:r>
            <a:endParaRPr lang="it-IT" sz="2200" b="1" dirty="0">
              <a:solidFill>
                <a:schemeClr val="accent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10516B1-A59F-639F-0185-737AE973E754}"/>
              </a:ext>
            </a:extLst>
          </p:cNvPr>
          <p:cNvSpPr txBox="1"/>
          <p:nvPr/>
        </p:nvSpPr>
        <p:spPr>
          <a:xfrm>
            <a:off x="628560" y="1420467"/>
            <a:ext cx="3611348" cy="20085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LANGUAGE &amp; KNOWLEDGE</a:t>
            </a:r>
          </a:p>
          <a:p>
            <a:pPr algn="ctr"/>
            <a:endParaRPr lang="it-IT" sz="1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Finite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linguistic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Sometime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NLP Agent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choose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wrong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performative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Manually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encoded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templates </a:t>
            </a:r>
          </a:p>
        </p:txBody>
      </p:sp>
      <p:sp>
        <p:nvSpPr>
          <p:cNvPr id="3" name="TextBox 106">
            <a:extLst>
              <a:ext uri="{FF2B5EF4-FFF2-40B4-BE49-F238E27FC236}">
                <a16:creationId xmlns:a16="http://schemas.microsoft.com/office/drawing/2014/main" id="{92DAA956-FD5B-107E-B424-8BA7867ED31B}"/>
              </a:ext>
            </a:extLst>
          </p:cNvPr>
          <p:cNvSpPr txBox="1"/>
          <p:nvPr/>
        </p:nvSpPr>
        <p:spPr>
          <a:xfrm>
            <a:off x="5108562" y="1408374"/>
            <a:ext cx="3406878" cy="20085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Heuristic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calorie and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macronutrient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targets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Limited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robustness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of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allergen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dietary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constraint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enforcement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" name="TextBox 106">
            <a:extLst>
              <a:ext uri="{FF2B5EF4-FFF2-40B4-BE49-F238E27FC236}">
                <a16:creationId xmlns:a16="http://schemas.microsoft.com/office/drawing/2014/main" id="{E1B43453-D8BD-43C4-7D0F-54AEF829D084}"/>
              </a:ext>
            </a:extLst>
          </p:cNvPr>
          <p:cNvSpPr txBox="1"/>
          <p:nvPr/>
        </p:nvSpPr>
        <p:spPr>
          <a:xfrm>
            <a:off x="2579267" y="3840579"/>
            <a:ext cx="3892571" cy="24608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PLAN OPTIMIZATION</a:t>
            </a:r>
          </a:p>
          <a:p>
            <a:pPr algn="ctr"/>
            <a:endParaRPr lang="it-IT" sz="1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Rebalancing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modifies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only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future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meals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of the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current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Weekly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constraints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are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not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globally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re-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optimized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7817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it-IT" sz="2400" b="1" dirty="0" err="1">
                <a:solidFill>
                  <a:srgbClr val="00845C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References</a:t>
            </a:r>
            <a:endParaRPr lang="it-IT" sz="2400" b="1" dirty="0">
              <a:solidFill>
                <a:srgbClr val="00845C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095493" y="2295953"/>
            <a:ext cx="6953013" cy="22660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Mifflin et al. (1990)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Equation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used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to estimate the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user’s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resting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energy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expenditure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daily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caloric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requirement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Food Standards Australia New Zealand (2025)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Australian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Food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Composition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Database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used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the source of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ingredient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calories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and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macronutrients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Centers for </a:t>
            </a:r>
            <a:r>
              <a:rPr lang="it-IT" sz="16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Disease</a:t>
            </a:r>
            <a:r>
              <a:rPr lang="it-IT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Control and </a:t>
            </a:r>
            <a:r>
              <a:rPr lang="it-IT" sz="1600" b="1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Prevention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Adult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BMI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categories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used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to determine the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user’s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initial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it-IT" sz="16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nutritional</a:t>
            </a:r>
            <a:r>
              <a:rPr lang="it-IT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goal.</a:t>
            </a:r>
            <a:endParaRPr sz="1600" dirty="0">
              <a:solidFill>
                <a:srgbClr val="141414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i Office">
  <a:themeElements>
    <a:clrScheme name="mfn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7C58"/>
      </a:accent1>
      <a:accent2>
        <a:srgbClr val="007C58"/>
      </a:accent2>
      <a:accent3>
        <a:srgbClr val="007C58"/>
      </a:accent3>
      <a:accent4>
        <a:srgbClr val="007C58"/>
      </a:accent4>
      <a:accent5>
        <a:srgbClr val="007C58"/>
      </a:accent5>
      <a:accent6>
        <a:srgbClr val="007C58"/>
      </a:accent6>
      <a:hlink>
        <a:srgbClr val="007C58"/>
      </a:hlink>
      <a:folHlink>
        <a:srgbClr val="E7E6E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1391</TotalTime>
  <Words>1029</Words>
  <Application>Microsoft Office PowerPoint</Application>
  <PresentationFormat>Presentazione su schermo (4:3)</PresentationFormat>
  <Paragraphs>233</Paragraphs>
  <Slides>33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10</vt:i4>
      </vt:variant>
      <vt:variant>
        <vt:lpstr>Titoli diapositive</vt:lpstr>
      </vt:variant>
      <vt:variant>
        <vt:i4>33</vt:i4>
      </vt:variant>
    </vt:vector>
  </HeadingPairs>
  <TitlesOfParts>
    <vt:vector size="51" baseType="lpstr">
      <vt:lpstr>Arial</vt:lpstr>
      <vt:lpstr>Fira Sans</vt:lpstr>
      <vt:lpstr>Fira Sans Medium</vt:lpstr>
      <vt:lpstr>Roboto Slab</vt:lpstr>
      <vt:lpstr>Symbol</vt:lpstr>
      <vt:lpstr>Times New Roman</vt:lpstr>
      <vt:lpstr>Verdana</vt:lpstr>
      <vt:lpstr>Wingdings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Course S&amp;DAI  Nutri-MAS  Hybrid multi-agent system for personalized nutritional assistance</vt:lpstr>
      <vt:lpstr>Creative project 
Proposed difficulty medium-hard</vt:lpstr>
      <vt:lpstr>Project specification</vt:lpstr>
      <vt:lpstr>Motivation</vt:lpstr>
      <vt:lpstr>Technology stack</vt:lpstr>
      <vt:lpstr>Why a hybrid multi-agent system? </vt:lpstr>
      <vt:lpstr>Nutri-MAS System Architecture</vt:lpstr>
      <vt:lpstr>Gateway</vt:lpstr>
      <vt:lpstr>NLP Agent</vt:lpstr>
      <vt:lpstr>NLP Agent</vt:lpstr>
      <vt:lpstr>Nutrizionist</vt:lpstr>
      <vt:lpstr>Planner</vt:lpstr>
      <vt:lpstr>Chef</vt:lpstr>
      <vt:lpstr>Creative Cook</vt:lpstr>
      <vt:lpstr>How do the agents communicate?</vt:lpstr>
      <vt:lpstr>Weekly plan generation</vt:lpstr>
      <vt:lpstr>Meal Monitoring</vt:lpstr>
      <vt:lpstr>Weight Update</vt:lpstr>
      <vt:lpstr>Daily Plan Rebalancing</vt:lpstr>
      <vt:lpstr>Data management</vt:lpstr>
      <vt:lpstr>Demo</vt:lpstr>
      <vt:lpstr>Demo</vt:lpstr>
      <vt:lpstr>Demo</vt:lpstr>
      <vt:lpstr>Demo</vt:lpstr>
      <vt:lpstr>Demo</vt:lpstr>
      <vt:lpstr>Demo</vt:lpstr>
      <vt:lpstr>Demo</vt:lpstr>
      <vt:lpstr>Demo</vt:lpstr>
      <vt:lpstr>Demo</vt:lpstr>
      <vt:lpstr>Demo</vt:lpstr>
      <vt:lpstr>Limitations</vt:lpstr>
      <vt:lpstr>References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Giorgio Acossi</cp:lastModifiedBy>
  <cp:revision>22</cp:revision>
  <dcterms:modified xsi:type="dcterms:W3CDTF">2026-07-17T14:01:08Z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2024-11-17T15:40:47Z</dcterms:created>
  <dc:creator/>
  <dc:description/>
  <dc:language>en-US</dc:language>
  <cp:lastModifiedBy/>
  <cp:lastPrinted>2019-04-15T13:03:12Z</cp:lastPrinted>
  <dcterms:modified xsi:type="dcterms:W3CDTF">2024-11-17T15:49:49Z</dcterms:modified>
  <cp:revision>30</cp:revision>
  <dc:subject/>
  <dc:title>Titolo della presentazione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Presentazione su schermo (4:3)</vt:lpwstr>
  </property>
  <property fmtid="{D5CDD505-2E9C-101B-9397-08002B2CF9AE}" pid="3" name="Slides">
    <vt:r8>13</vt:r8>
  </property>
</Properties>
</file>